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315" r:id="rId4"/>
    <p:sldId id="316" r:id="rId5"/>
    <p:sldId id="317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2" r:id="rId19"/>
    <p:sldId id="331" r:id="rId20"/>
    <p:sldId id="275" r:id="rId21"/>
    <p:sldId id="276" r:id="rId22"/>
    <p:sldId id="277" r:id="rId23"/>
    <p:sldId id="278" r:id="rId24"/>
    <p:sldId id="279" r:id="rId25"/>
    <p:sldId id="287" r:id="rId26"/>
    <p:sldId id="293" r:id="rId27"/>
    <p:sldId id="294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296" r:id="rId3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5C443F-5376-44C6-9B7B-4ABAB8EBCBB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A5B4D-25A1-45F6-94BD-29B59464A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6430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A5B4D-25A1-45F6-94BD-29B59464A02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9568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2" name="日期版面配置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頁尾版面配置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8" name="日期版面配置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頁尾版面配置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頁尾版面配置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TW" altLang="en-US"/>
          </a:p>
        </p:txBody>
      </p:sp>
      <p:sp>
        <p:nvSpPr>
          <p:cNvPr id="16" name="文字版面配置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15" name="文字版面配置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版面配置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BBEAD13-0566-4C6C-97E7-55F17F24B0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頁尾版面配置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red.org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raw.githubusercontent.com/node-red/linux-installers/master/deb/update-nodejs-and-nodered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工業通訊協定實現工廠可視化管理</a:t>
            </a:r>
            <a:br>
              <a:rPr lang="en-US" altLang="zh-TW" dirty="0"/>
            </a:br>
            <a:r>
              <a:rPr lang="zh-TW" altLang="en-US" dirty="0"/>
              <a:t>    </a:t>
            </a:r>
            <a:r>
              <a:rPr lang="en-US" altLang="zh-TW" dirty="0"/>
              <a:t>-</a:t>
            </a:r>
            <a:r>
              <a:rPr lang="en-US" altLang="zh-TW" dirty="0" err="1"/>
              <a:t>modbus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Speaker: </a:t>
            </a:r>
            <a:r>
              <a:rPr lang="en-US" altLang="zh-TW" dirty="0" err="1"/>
              <a:t>Malo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楊熲煜</a:t>
            </a:r>
          </a:p>
        </p:txBody>
      </p:sp>
    </p:spTree>
    <p:extLst>
      <p:ext uri="{BB962C8B-B14F-4D97-AF65-F5344CB8AC3E}">
        <p14:creationId xmlns:p14="http://schemas.microsoft.com/office/powerpoint/2010/main" val="82133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講者介紹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err="1"/>
              <a:t>Malo</a:t>
            </a:r>
            <a:r>
              <a:rPr lang="en-US" altLang="zh-TW" dirty="0"/>
              <a:t> – </a:t>
            </a:r>
            <a:r>
              <a:rPr lang="en-US" altLang="zh-TW" dirty="0" err="1"/>
              <a:t>楊熲煜</a:t>
            </a:r>
            <a:endParaRPr lang="en-US" altLang="zh-TW" dirty="0"/>
          </a:p>
          <a:p>
            <a:r>
              <a:rPr lang="zh-TW" altLang="en-US" dirty="0"/>
              <a:t>正修科技大學 講師 </a:t>
            </a:r>
            <a:r>
              <a:rPr lang="en-US" altLang="zh-TW" dirty="0"/>
              <a:t>(2021-至今)</a:t>
            </a:r>
          </a:p>
          <a:p>
            <a:r>
              <a:rPr lang="zh-TW" altLang="en-US" dirty="0"/>
              <a:t>高雄科技大學</a:t>
            </a:r>
            <a:r>
              <a:rPr lang="en-US" altLang="zh-TW" dirty="0"/>
              <a:t> </a:t>
            </a:r>
            <a:r>
              <a:rPr lang="en-US" altLang="zh-TW" dirty="0" err="1"/>
              <a:t>業師</a:t>
            </a:r>
            <a:r>
              <a:rPr lang="en-US" altLang="zh-TW" dirty="0"/>
              <a:t> (2020~ </a:t>
            </a:r>
            <a:r>
              <a:rPr lang="en-US" altLang="zh-TW" dirty="0" err="1"/>
              <a:t>至今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勞動部在職訓練講師 </a:t>
            </a:r>
            <a:r>
              <a:rPr lang="en-US" altLang="zh-TW" dirty="0"/>
              <a:t>(2020</a:t>
            </a:r>
            <a:r>
              <a:rPr lang="zh-TW" altLang="en-US" dirty="0"/>
              <a:t>年</a:t>
            </a:r>
            <a:r>
              <a:rPr lang="en-US" altLang="zh-TW" dirty="0"/>
              <a:t>~</a:t>
            </a:r>
            <a:r>
              <a:rPr lang="zh-TW" altLang="en-US" dirty="0"/>
              <a:t>至今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高雄</a:t>
            </a:r>
            <a:r>
              <a:rPr lang="en-US" altLang="zh-TW" dirty="0" err="1"/>
              <a:t>Python使用者社群義工</a:t>
            </a:r>
            <a:endParaRPr lang="en-US" altLang="zh-TW" dirty="0"/>
          </a:p>
          <a:p>
            <a:r>
              <a:rPr lang="zh-TW" altLang="en-US" dirty="0"/>
              <a:t>台灣</a:t>
            </a:r>
            <a:r>
              <a:rPr lang="en-US" altLang="zh-TW" dirty="0"/>
              <a:t>Python</a:t>
            </a:r>
            <a:r>
              <a:rPr lang="zh-TW" altLang="en-US" dirty="0"/>
              <a:t>研討會講者 </a:t>
            </a:r>
            <a:r>
              <a:rPr lang="en-US" altLang="zh-TW" dirty="0"/>
              <a:t>(2018~2021)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6151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4B7A1-6480-18E3-D363-DE571C68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BC732FB8-0A47-792C-722C-9018FD4E1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3F7381E-7E73-B987-CBAD-F70FBBF2B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</p:spTree>
    <p:extLst>
      <p:ext uri="{BB962C8B-B14F-4D97-AF65-F5344CB8AC3E}">
        <p14:creationId xmlns:p14="http://schemas.microsoft.com/office/powerpoint/2010/main" val="304197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AB8C6-0EE0-934B-6D61-A6CBDBB6A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3D375-9640-0CC3-CAB5-C8AC5E87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959132-1288-471A-1127-4227E83798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Modbus</a:t>
            </a:r>
          </a:p>
          <a:p>
            <a:pPr lvl="1"/>
            <a:r>
              <a:rPr lang="en-US" altLang="zh-TW" dirty="0"/>
              <a:t>Modbus/TCP</a:t>
            </a:r>
          </a:p>
          <a:p>
            <a:pPr lvl="1"/>
            <a:r>
              <a:rPr lang="en-US" altLang="zh-TW" dirty="0"/>
              <a:t>Modbus/RTU</a:t>
            </a:r>
          </a:p>
          <a:p>
            <a:r>
              <a:rPr lang="en-US" altLang="zh-TW" dirty="0" err="1"/>
              <a:t>CANBus</a:t>
            </a:r>
            <a:endParaRPr lang="en-US" altLang="zh-TW" dirty="0"/>
          </a:p>
          <a:p>
            <a:r>
              <a:rPr lang="en-US" altLang="zh-TW" dirty="0"/>
              <a:t>J1939</a:t>
            </a:r>
          </a:p>
          <a:p>
            <a:r>
              <a:rPr lang="en-US" altLang="zh-TW" dirty="0" err="1"/>
              <a:t>BACNet</a:t>
            </a:r>
            <a:endParaRPr lang="en-US" altLang="zh-TW" dirty="0"/>
          </a:p>
          <a:p>
            <a:r>
              <a:rPr lang="en-US" altLang="zh-TW" dirty="0"/>
              <a:t>DNP3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0BCBCCE-CB71-4B4F-87DB-8DDA81010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66" y="2458547"/>
            <a:ext cx="7021653" cy="428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33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9DC8-02CA-7903-3223-184F10A2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9BFCC0-E614-C04F-A44D-37292EBBE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CB33AB-955E-FEB6-FA2A-6E50F414F22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Modbus</a:t>
            </a:r>
            <a:r>
              <a:rPr lang="zh-TW" altLang="en-US" dirty="0"/>
              <a:t> 是最常見的工控通訊協定</a:t>
            </a:r>
            <a:endParaRPr lang="en-US" altLang="zh-TW" dirty="0"/>
          </a:p>
          <a:p>
            <a:pPr lvl="1"/>
            <a:r>
              <a:rPr lang="en-US" altLang="zh-TW" dirty="0"/>
              <a:t>Modbus/TCP</a:t>
            </a:r>
          </a:p>
          <a:p>
            <a:pPr lvl="1"/>
            <a:r>
              <a:rPr lang="en-US" altLang="zh-TW" dirty="0"/>
              <a:t>Modbus/RTU</a:t>
            </a:r>
          </a:p>
          <a:p>
            <a:pPr lvl="1"/>
            <a:r>
              <a:rPr lang="en-US" altLang="zh-TW" dirty="0"/>
              <a:t>Modbus/ASCII</a:t>
            </a:r>
          </a:p>
        </p:txBody>
      </p:sp>
      <p:pic>
        <p:nvPicPr>
          <p:cNvPr id="4" name="圖片 3" descr="格式">
            <a:extLst>
              <a:ext uri="{FF2B5EF4-FFF2-40B4-BE49-F238E27FC236}">
                <a16:creationId xmlns:a16="http://schemas.microsoft.com/office/drawing/2014/main" id="{24B74B70-ABB4-C988-1C71-2E2142346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832" y="2996953"/>
            <a:ext cx="5171216" cy="348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29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4C12B-6CE3-3C8B-7E92-D235B3BBE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52013D-7B15-2F2B-FEA2-2FD22E2C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FF91E8-33FC-7898-E247-6B62234F35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modbus常被採用的原因</a:t>
            </a:r>
            <a:endParaRPr lang="en-US" altLang="zh-TW" dirty="0"/>
          </a:p>
          <a:p>
            <a:pPr lvl="1"/>
            <a:r>
              <a:rPr lang="zh-TW" altLang="zh-TW" dirty="0"/>
              <a:t>公開發表並且無版稅要求</a:t>
            </a:r>
          </a:p>
          <a:p>
            <a:pPr lvl="1"/>
            <a:r>
              <a:rPr lang="zh-TW" altLang="zh-TW" dirty="0"/>
              <a:t>相對容易的工業網路部署</a:t>
            </a:r>
          </a:p>
          <a:p>
            <a:pPr lvl="1"/>
            <a:r>
              <a:rPr lang="zh-TW" altLang="zh-TW" dirty="0"/>
              <a:t>協定格式簡單，極省資源</a:t>
            </a:r>
          </a:p>
        </p:txBody>
      </p:sp>
    </p:spTree>
    <p:extLst>
      <p:ext uri="{BB962C8B-B14F-4D97-AF65-F5344CB8AC3E}">
        <p14:creationId xmlns:p14="http://schemas.microsoft.com/office/powerpoint/2010/main" val="535470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47274-43E4-CEE9-1751-8066D336A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C3CFBC-2BAE-1775-356F-14B1E60CA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827818-E222-4B61-622A-6922C76D2F7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本次將會以</a:t>
            </a:r>
            <a:r>
              <a:rPr lang="en-US" altLang="zh-TW" dirty="0"/>
              <a:t>Modbus/TCP</a:t>
            </a:r>
            <a:r>
              <a:rPr lang="zh-TW" altLang="en-US" dirty="0"/>
              <a:t>進行實作介紹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471CCF2-40D2-9146-BF39-AD3C4FDEA6AB}"/>
              </a:ext>
            </a:extLst>
          </p:cNvPr>
          <p:cNvSpPr txBox="1"/>
          <p:nvPr/>
        </p:nvSpPr>
        <p:spPr>
          <a:xfrm>
            <a:off x="2267744" y="2348880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[ TCP Header                 ]  [ID]  [FC]  [</a:t>
            </a:r>
            <a:r>
              <a:rPr lang="en-US" altLang="zh-TW" dirty="0" err="1"/>
              <a:t>addr</a:t>
            </a:r>
            <a:r>
              <a:rPr lang="en-US" altLang="zh-TW" dirty="0"/>
              <a:t>]   [Length]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41D284D-88B9-090E-9BA6-FC3E0D883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847726"/>
            <a:ext cx="6480720" cy="105242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775FA43-9BE2-24AC-64D5-C53604AB8383}"/>
              </a:ext>
            </a:extLst>
          </p:cNvPr>
          <p:cNvSpPr txBox="1"/>
          <p:nvPr/>
        </p:nvSpPr>
        <p:spPr>
          <a:xfrm>
            <a:off x="2296423" y="3965738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[ TCP Header                 ]  [ID]  [FC] [length] [Data]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9AA515A-6BA0-2792-CA37-AFF389C92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5093980"/>
            <a:ext cx="7836568" cy="423252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186067D9-B7C0-C8C0-D00A-D450ABC7507E}"/>
              </a:ext>
            </a:extLst>
          </p:cNvPr>
          <p:cNvSpPr txBox="1"/>
          <p:nvPr/>
        </p:nvSpPr>
        <p:spPr>
          <a:xfrm>
            <a:off x="1187624" y="4754182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[ TCP Header    </a:t>
            </a:r>
            <a:r>
              <a:rPr lang="zh-TW" altLang="en-US" dirty="0"/>
              <a:t>      </a:t>
            </a:r>
            <a:r>
              <a:rPr lang="en-US" altLang="zh-TW" dirty="0"/>
              <a:t>      ] [ID]</a:t>
            </a:r>
            <a:r>
              <a:rPr lang="zh-TW" altLang="en-US" dirty="0"/>
              <a:t> </a:t>
            </a:r>
            <a:r>
              <a:rPr lang="en-US" altLang="zh-TW" dirty="0"/>
              <a:t>[FC] [</a:t>
            </a:r>
            <a:r>
              <a:rPr lang="en-US" altLang="zh-TW" dirty="0" err="1"/>
              <a:t>addr</a:t>
            </a:r>
            <a:r>
              <a:rPr lang="en-US" altLang="zh-TW" dirty="0"/>
              <a:t>]</a:t>
            </a:r>
            <a:r>
              <a:rPr lang="zh-TW" altLang="en-US" dirty="0"/>
              <a:t>    </a:t>
            </a:r>
            <a:r>
              <a:rPr lang="en-US" altLang="zh-TW" dirty="0"/>
              <a:t>[Length]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620FCA8-D513-D53D-17D7-BC49961A5701}"/>
              </a:ext>
            </a:extLst>
          </p:cNvPr>
          <p:cNvSpPr txBox="1"/>
          <p:nvPr/>
        </p:nvSpPr>
        <p:spPr>
          <a:xfrm>
            <a:off x="1195742" y="5481956"/>
            <a:ext cx="7612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[ TCP Header               </a:t>
            </a:r>
            <a:r>
              <a:rPr lang="zh-TW" altLang="en-US" dirty="0"/>
              <a:t> </a:t>
            </a:r>
            <a:r>
              <a:rPr lang="en-US" altLang="zh-TW" dirty="0"/>
              <a:t>] [ID] [FC] [length] [Data</a:t>
            </a:r>
            <a:r>
              <a:rPr lang="zh-TW" altLang="en-US" dirty="0"/>
              <a:t>                                            </a:t>
            </a:r>
            <a:r>
              <a:rPr lang="en-US" altLang="zh-TW" dirty="0"/>
              <a:t>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30326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9F4F-799D-AE46-2528-4099E530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463A27-695B-45E7-698E-1C88C7F96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FE9B15-10D4-902D-A5BE-D1CAE3380F2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Modbus</a:t>
            </a:r>
            <a:r>
              <a:rPr lang="zh-TW" altLang="en-US" dirty="0"/>
              <a:t>通訊實作 </a:t>
            </a:r>
            <a:r>
              <a:rPr lang="en-US" altLang="zh-TW" dirty="0"/>
              <a:t>(modbus_demo.py)</a:t>
            </a:r>
          </a:p>
          <a:p>
            <a:pPr lvl="1"/>
            <a:r>
              <a:rPr lang="en-US" altLang="zh-TW" dirty="0"/>
              <a:t>Modbus/TCP</a:t>
            </a:r>
            <a:r>
              <a:rPr lang="zh-TW" altLang="en-US" dirty="0"/>
              <a:t>控制</a:t>
            </a:r>
            <a:r>
              <a:rPr lang="en-US" altLang="zh-TW" dirty="0"/>
              <a:t>DIO</a:t>
            </a:r>
            <a:r>
              <a:rPr lang="zh-TW" altLang="en-US" dirty="0"/>
              <a:t>設備</a:t>
            </a:r>
            <a:r>
              <a:rPr lang="en-US" altLang="zh-TW" dirty="0"/>
              <a:t>:</a:t>
            </a:r>
            <a:r>
              <a:rPr lang="zh-TW" altLang="en-US" dirty="0"/>
              <a:t> 燈控器</a:t>
            </a:r>
            <a:endParaRPr lang="en-US" altLang="zh-TW" dirty="0"/>
          </a:p>
          <a:p>
            <a:pPr lvl="1"/>
            <a:r>
              <a:rPr lang="en-US" altLang="zh-TW" dirty="0"/>
              <a:t>PLC</a:t>
            </a:r>
            <a:r>
              <a:rPr lang="zh-TW" altLang="en-US" dirty="0"/>
              <a:t>也是個很常見的項目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411F16E-E2FC-3774-E33D-2E6DE5D67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3608" y="3573016"/>
            <a:ext cx="2611833" cy="2731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圖片 5" descr="PLC">
            <a:extLst>
              <a:ext uri="{FF2B5EF4-FFF2-40B4-BE49-F238E27FC236}">
                <a16:creationId xmlns:a16="http://schemas.microsoft.com/office/drawing/2014/main" id="{C8258B10-B565-91D4-55E9-7EE13D989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348" y="3717032"/>
            <a:ext cx="3782444" cy="265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84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7866" y="2938077"/>
            <a:ext cx="3081334" cy="322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5439" y="641349"/>
            <a:ext cx="104775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直線接點 6"/>
          <p:cNvCxnSpPr>
            <a:cxnSpLocks/>
          </p:cNvCxnSpPr>
          <p:nvPr/>
        </p:nvCxnSpPr>
        <p:spPr>
          <a:xfrm>
            <a:off x="1349829" y="1669143"/>
            <a:ext cx="3512457" cy="1161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1169929" y="2151249"/>
            <a:ext cx="98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AC110V</a:t>
            </a:r>
            <a:endParaRPr lang="zh-TW" altLang="en-US" dirty="0"/>
          </a:p>
        </p:txBody>
      </p:sp>
      <p:cxnSp>
        <p:nvCxnSpPr>
          <p:cNvPr id="9" name="直線接點 8"/>
          <p:cNvCxnSpPr>
            <a:cxnSpLocks/>
          </p:cNvCxnSpPr>
          <p:nvPr/>
        </p:nvCxnSpPr>
        <p:spPr>
          <a:xfrm>
            <a:off x="1357086" y="1908629"/>
            <a:ext cx="1342571" cy="217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cxnSpLocks/>
          </p:cNvCxnSpPr>
          <p:nvPr/>
        </p:nvCxnSpPr>
        <p:spPr>
          <a:xfrm rot="16200000" flipV="1">
            <a:off x="2220686" y="2438401"/>
            <a:ext cx="1074057" cy="1161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cxnSpLocks/>
          </p:cNvCxnSpPr>
          <p:nvPr/>
        </p:nvCxnSpPr>
        <p:spPr>
          <a:xfrm rot="16200000" flipV="1">
            <a:off x="2431143" y="2445658"/>
            <a:ext cx="1045029" cy="1306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cxnSpLocks/>
          </p:cNvCxnSpPr>
          <p:nvPr/>
        </p:nvCxnSpPr>
        <p:spPr>
          <a:xfrm>
            <a:off x="2844800" y="1988458"/>
            <a:ext cx="2002971" cy="580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8254199">
            <a:off x="880111" y="1389471"/>
            <a:ext cx="754458" cy="748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48135" y="4760686"/>
            <a:ext cx="2659236" cy="1858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 rot="12569084">
            <a:off x="4912178" y="5779635"/>
            <a:ext cx="14097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4" name="直線接點 23"/>
          <p:cNvCxnSpPr>
            <a:cxnSpLocks/>
          </p:cNvCxnSpPr>
          <p:nvPr/>
        </p:nvCxnSpPr>
        <p:spPr>
          <a:xfrm rot="16200000" flipH="1">
            <a:off x="2133600" y="6255657"/>
            <a:ext cx="827314" cy="1451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cxnSpLocks/>
          </p:cNvCxnSpPr>
          <p:nvPr/>
        </p:nvCxnSpPr>
        <p:spPr>
          <a:xfrm rot="16200000" flipH="1">
            <a:off x="2431144" y="6103254"/>
            <a:ext cx="602343" cy="21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cxnSpLocks/>
          </p:cNvCxnSpPr>
          <p:nvPr/>
        </p:nvCxnSpPr>
        <p:spPr>
          <a:xfrm flipV="1">
            <a:off x="2554514" y="6393544"/>
            <a:ext cx="2423886" cy="28302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cxnSpLocks/>
          </p:cNvCxnSpPr>
          <p:nvPr/>
        </p:nvCxnSpPr>
        <p:spPr>
          <a:xfrm rot="10800000" flipV="1">
            <a:off x="2728687" y="6270171"/>
            <a:ext cx="2206173" cy="1596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cxnSpLocks/>
          </p:cNvCxnSpPr>
          <p:nvPr/>
        </p:nvCxnSpPr>
        <p:spPr>
          <a:xfrm flipV="1">
            <a:off x="2975429" y="6008914"/>
            <a:ext cx="1480457" cy="203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cxnSpLocks/>
          </p:cNvCxnSpPr>
          <p:nvPr/>
        </p:nvCxnSpPr>
        <p:spPr>
          <a:xfrm rot="16200000" flipH="1">
            <a:off x="2728686" y="5936343"/>
            <a:ext cx="420914" cy="101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cxnSpLocks/>
          </p:cNvCxnSpPr>
          <p:nvPr/>
        </p:nvCxnSpPr>
        <p:spPr>
          <a:xfrm rot="16200000" flipH="1">
            <a:off x="2931884" y="5863770"/>
            <a:ext cx="304802" cy="435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cxnSpLocks/>
          </p:cNvCxnSpPr>
          <p:nvPr/>
        </p:nvCxnSpPr>
        <p:spPr>
          <a:xfrm flipV="1">
            <a:off x="3106057" y="5762175"/>
            <a:ext cx="1262746" cy="2612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4405086" y="5638800"/>
            <a:ext cx="763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DC12V</a:t>
            </a:r>
            <a:endParaRPr lang="zh-TW" altLang="en-US" dirty="0"/>
          </a:p>
        </p:txBody>
      </p:sp>
      <p:sp>
        <p:nvSpPr>
          <p:cNvPr id="53" name="流程圖: 磁碟 52"/>
          <p:cNvSpPr/>
          <p:nvPr/>
        </p:nvSpPr>
        <p:spPr>
          <a:xfrm>
            <a:off x="7503886" y="2467429"/>
            <a:ext cx="1074057" cy="140788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D6565-A933-A5FF-1D7C-8C94CF82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D7583E-EB26-C50B-2862-4386D37C0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88094A-88DA-449E-A9B7-F8A600DB4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05178" y="2938077"/>
            <a:ext cx="2258918" cy="2361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923055E7-2648-66CF-F24B-1BF3FE79B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05829" y="1318078"/>
            <a:ext cx="763351" cy="124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53679B7E-B3F9-0332-17C9-1A0B0ABF2300}"/>
              </a:ext>
            </a:extLst>
          </p:cNvPr>
          <p:cNvCxnSpPr>
            <a:cxnSpLocks/>
          </p:cNvCxnSpPr>
          <p:nvPr/>
        </p:nvCxnSpPr>
        <p:spPr>
          <a:xfrm>
            <a:off x="1358939" y="1719498"/>
            <a:ext cx="3512457" cy="1161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8C6C1196-5AD6-FB24-903E-F387EEB8A66D}"/>
              </a:ext>
            </a:extLst>
          </p:cNvPr>
          <p:cNvSpPr txBox="1"/>
          <p:nvPr/>
        </p:nvSpPr>
        <p:spPr>
          <a:xfrm>
            <a:off x="1450748" y="2151851"/>
            <a:ext cx="98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AC110V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31B57AB8-7655-814E-DABE-91A3948AF726}"/>
              </a:ext>
            </a:extLst>
          </p:cNvPr>
          <p:cNvCxnSpPr>
            <a:cxnSpLocks/>
          </p:cNvCxnSpPr>
          <p:nvPr/>
        </p:nvCxnSpPr>
        <p:spPr>
          <a:xfrm>
            <a:off x="1357086" y="1908629"/>
            <a:ext cx="1342571" cy="217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88821B71-C73C-F3A8-81CE-9D9C2BEE90A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20686" y="2438401"/>
            <a:ext cx="1074057" cy="1161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63C2972E-662E-A216-F041-7534BFE841C1}"/>
              </a:ext>
            </a:extLst>
          </p:cNvPr>
          <p:cNvCxnSpPr>
            <a:cxnSpLocks/>
          </p:cNvCxnSpPr>
          <p:nvPr/>
        </p:nvCxnSpPr>
        <p:spPr>
          <a:xfrm rot="16200000" flipV="1">
            <a:off x="2431143" y="2445658"/>
            <a:ext cx="1045029" cy="1306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278BC737-7303-A0C1-1B27-401F33CE5EB3}"/>
              </a:ext>
            </a:extLst>
          </p:cNvPr>
          <p:cNvCxnSpPr>
            <a:cxnSpLocks/>
          </p:cNvCxnSpPr>
          <p:nvPr/>
        </p:nvCxnSpPr>
        <p:spPr>
          <a:xfrm>
            <a:off x="2844800" y="1988458"/>
            <a:ext cx="2002971" cy="580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CCD26476-115A-0861-AEDD-AB54E1BD0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8254199">
            <a:off x="877221" y="1529574"/>
            <a:ext cx="754458" cy="748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D014B988-C1B3-9F86-626B-59D61581B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948135" y="4760686"/>
            <a:ext cx="2659236" cy="1858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FA6E7C3-D5EC-453F-44D7-FD6A9F270AA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36136" y="5566226"/>
            <a:ext cx="827314" cy="1451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ECC8B125-E4DD-F1F5-0931-50EA1D9A9279}"/>
              </a:ext>
            </a:extLst>
          </p:cNvPr>
          <p:cNvCxnSpPr>
            <a:cxnSpLocks/>
          </p:cNvCxnSpPr>
          <p:nvPr/>
        </p:nvCxnSpPr>
        <p:spPr>
          <a:xfrm>
            <a:off x="2823963" y="5123539"/>
            <a:ext cx="14516" cy="863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0E86AB79-1AAC-41C2-BE59-AD553EF07D0B}"/>
              </a:ext>
            </a:extLst>
          </p:cNvPr>
          <p:cNvCxnSpPr>
            <a:cxnSpLocks/>
          </p:cNvCxnSpPr>
          <p:nvPr/>
        </p:nvCxnSpPr>
        <p:spPr>
          <a:xfrm flipV="1">
            <a:off x="3077965" y="5319483"/>
            <a:ext cx="1480457" cy="203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FF4275A8-CC6A-8202-8152-4EE720C9A03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31222" y="5246912"/>
            <a:ext cx="420914" cy="101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559B573-2113-07CB-A031-15E39438D44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34420" y="5174339"/>
            <a:ext cx="304802" cy="435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9B5635A5-22CF-C9DD-DD63-867C95F44485}"/>
              </a:ext>
            </a:extLst>
          </p:cNvPr>
          <p:cNvCxnSpPr>
            <a:cxnSpLocks/>
          </p:cNvCxnSpPr>
          <p:nvPr/>
        </p:nvCxnSpPr>
        <p:spPr>
          <a:xfrm flipV="1">
            <a:off x="3208593" y="5072744"/>
            <a:ext cx="1262746" cy="2612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673841E2-232A-560D-8E9F-2B256E23C408}"/>
              </a:ext>
            </a:extLst>
          </p:cNvPr>
          <p:cNvSpPr txBox="1"/>
          <p:nvPr/>
        </p:nvSpPr>
        <p:spPr>
          <a:xfrm>
            <a:off x="4507622" y="4949369"/>
            <a:ext cx="763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DC12V</a:t>
            </a:r>
            <a:endParaRPr lang="zh-TW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7D90B5E-33D2-3CDD-EABB-E7314444A41A}"/>
              </a:ext>
            </a:extLst>
          </p:cNvPr>
          <p:cNvSpPr/>
          <p:nvPr/>
        </p:nvSpPr>
        <p:spPr>
          <a:xfrm>
            <a:off x="2339752" y="5987140"/>
            <a:ext cx="1480457" cy="63160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網路閘道器</a:t>
            </a:r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2781FD86-257D-577E-D513-C4D413631A52}"/>
              </a:ext>
            </a:extLst>
          </p:cNvPr>
          <p:cNvSpPr/>
          <p:nvPr/>
        </p:nvSpPr>
        <p:spPr>
          <a:xfrm>
            <a:off x="3820208" y="6086018"/>
            <a:ext cx="1450765" cy="532724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網路通訊</a:t>
            </a:r>
          </a:p>
        </p:txBody>
      </p:sp>
    </p:spTree>
    <p:extLst>
      <p:ext uri="{BB962C8B-B14F-4D97-AF65-F5344CB8AC3E}">
        <p14:creationId xmlns:p14="http://schemas.microsoft.com/office/powerpoint/2010/main" val="3140857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CB6EE-8C8A-9035-33DE-8B961B0F7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D5966B-12CB-2FCA-50B1-67EAE22E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59CFF1-44D1-F206-9FD7-6B7C7C14208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如何控制</a:t>
            </a:r>
            <a:r>
              <a:rPr lang="en-US" altLang="zh-TW" dirty="0"/>
              <a:t>PLC: </a:t>
            </a:r>
            <a:r>
              <a:rPr lang="zh-TW" altLang="en-US" dirty="0"/>
              <a:t>查詢點表</a:t>
            </a:r>
          </a:p>
        </p:txBody>
      </p:sp>
      <p:pic>
        <p:nvPicPr>
          <p:cNvPr id="4" name="圖片 3" descr="PLC點表">
            <a:extLst>
              <a:ext uri="{FF2B5EF4-FFF2-40B4-BE49-F238E27FC236}">
                <a16:creationId xmlns:a16="http://schemas.microsoft.com/office/drawing/2014/main" id="{B1792241-66EE-2A4D-A4BC-01BE0EBA32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8" t="6370" r="4703" b="48648"/>
          <a:stretch>
            <a:fillRect/>
          </a:stretch>
        </p:blipFill>
        <p:spPr>
          <a:xfrm>
            <a:off x="1403648" y="2276872"/>
            <a:ext cx="6336704" cy="447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49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AEC14-A26B-8D3F-FC92-41825EAD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D7F37B-E46A-1556-7653-A8F320EC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B59B07-321D-732B-249E-A67812DF2C7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如何控制</a:t>
            </a:r>
            <a:r>
              <a:rPr lang="en-US" altLang="zh-TW" dirty="0"/>
              <a:t>PLC: </a:t>
            </a:r>
            <a:r>
              <a:rPr lang="zh-TW" altLang="en-US" dirty="0"/>
              <a:t>查詢點表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26DD778-CD14-D8EE-58F5-8048B0A58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203555"/>
            <a:ext cx="5184576" cy="463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64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B2E66-491C-CE23-4257-A7499B1DD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8CB949-986A-12AE-59B2-844E4A66A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0F4EE4-824C-BCA0-7DF7-E0FEAF31A43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Python</a:t>
            </a:r>
            <a:r>
              <a:rPr lang="zh-TW" altLang="en-US" dirty="0"/>
              <a:t>如何控制</a:t>
            </a:r>
            <a:r>
              <a:rPr lang="en-US" altLang="zh-TW" dirty="0"/>
              <a:t>PLC</a:t>
            </a:r>
          </a:p>
          <a:p>
            <a:r>
              <a:rPr lang="zh-TW" altLang="zh-TW" dirty="0"/>
              <a:t>較多人提到的三個</a:t>
            </a:r>
            <a:r>
              <a:rPr lang="en-US" altLang="zh-TW" dirty="0"/>
              <a:t>Modbus</a:t>
            </a:r>
            <a:r>
              <a:rPr lang="zh-TW" altLang="zh-TW" dirty="0"/>
              <a:t>套件</a:t>
            </a:r>
          </a:p>
          <a:p>
            <a:pPr lvl="1"/>
            <a:r>
              <a:rPr lang="zh-TW" altLang="zh-TW" dirty="0"/>
              <a:t>modbus-tk: Modbus/RTU, Modbus/TCP</a:t>
            </a:r>
          </a:p>
          <a:p>
            <a:pPr lvl="1"/>
            <a:r>
              <a:rPr lang="zh-TW" altLang="zh-TW" dirty="0"/>
              <a:t>pymodbus: 實作最完整，但使用資源相對的多，相依套件也多</a:t>
            </a:r>
          </a:p>
          <a:p>
            <a:pPr lvl="1"/>
            <a:r>
              <a:rPr lang="zh-TW" altLang="zh-TW" dirty="0"/>
              <a:t>MinimalModbus: Modbus/RTU, Modbus/ASCII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3200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C72C7-9D55-ECC4-E60F-DA94AA68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027AF7-85EC-8E74-0C2B-49DA4367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A81D3F-6A28-5E43-8FF2-46686850FCE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Modbus-tk</a:t>
            </a:r>
          </a:p>
          <a:p>
            <a:pPr lvl="1"/>
            <a:r>
              <a:rPr lang="zh-TW" altLang="zh-TW" dirty="0"/>
              <a:t>個人推薦使用</a:t>
            </a:r>
            <a:endParaRPr lang="en-US" altLang="zh-TW" dirty="0"/>
          </a:p>
          <a:p>
            <a:pPr lvl="1"/>
            <a:r>
              <a:rPr lang="zh-TW" altLang="zh-TW" dirty="0"/>
              <a:t>安裝方式</a:t>
            </a:r>
            <a:endParaRPr lang="en-US" altLang="zh-TW" dirty="0"/>
          </a:p>
          <a:p>
            <a:pPr lvl="2"/>
            <a:r>
              <a:rPr lang="zh-TW" altLang="zh-TW" dirty="0"/>
              <a:t>pip install serial</a:t>
            </a:r>
          </a:p>
          <a:p>
            <a:pPr lvl="2"/>
            <a:r>
              <a:rPr lang="zh-TW" altLang="zh-TW" dirty="0"/>
              <a:t>pip install modbus_tk</a:t>
            </a:r>
            <a:endParaRPr lang="en-US" altLang="zh-TW" dirty="0"/>
          </a:p>
          <a:p>
            <a:pPr lvl="1"/>
            <a:r>
              <a:rPr lang="zh-TW" altLang="en-US" dirty="0"/>
              <a:t>先</a:t>
            </a:r>
            <a:r>
              <a:rPr lang="en-US" altLang="zh-TW" dirty="0"/>
              <a:t>Demo</a:t>
            </a:r>
            <a:r>
              <a:rPr lang="zh-TW" altLang="en-US" dirty="0"/>
              <a:t>示範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312868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120B6-9A4F-5498-7295-A7BE0A8C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121020-20EA-05D3-7753-C106B839F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EC1D7-D6A3-61DA-82B3-EF416335511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Modbus-tk</a:t>
            </a:r>
          </a:p>
          <a:p>
            <a:pPr lvl="1"/>
            <a:r>
              <a:rPr lang="en-US" altLang="zh-TW" dirty="0"/>
              <a:t>Demo</a:t>
            </a:r>
            <a:r>
              <a:rPr lang="zh-TW" altLang="en-US" dirty="0"/>
              <a:t>示範實作說明</a:t>
            </a:r>
            <a:endParaRPr lang="en-US" altLang="zh-TW" dirty="0"/>
          </a:p>
          <a:p>
            <a:pPr lvl="1"/>
            <a:r>
              <a:rPr lang="en-US" altLang="zh-TW" dirty="0" err="1"/>
              <a:t>Python_Modbus.ipynb</a:t>
            </a:r>
            <a:endParaRPr lang="en-US" altLang="zh-TW" dirty="0"/>
          </a:p>
          <a:p>
            <a:pPr lvl="1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273233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67E25-4528-0BF5-9E9C-432D1CF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25E6CF-4233-2BA2-3684-DC3B36E4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6CF6C3-EF36-84AC-5054-ACC73B38790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數位電表的通訊</a:t>
            </a:r>
            <a:endParaRPr lang="zh-TW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5DAE39B-BE09-1831-B342-3F64581B0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564903"/>
            <a:ext cx="3816424" cy="327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9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7B175-AA2F-E7D8-EDF3-77D5C4069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322566-CCD3-5317-E0AA-84EA3BF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019B4B-68EE-A38A-DE72-872E630A1F0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數位電表的通訊</a:t>
            </a:r>
            <a:r>
              <a:rPr lang="en-US" altLang="zh-TW" dirty="0"/>
              <a:t>:</a:t>
            </a:r>
            <a:r>
              <a:rPr lang="zh-TW" altLang="en-US" dirty="0"/>
              <a:t> 查看點表</a:t>
            </a:r>
            <a:endParaRPr lang="zh-TW" altLang="zh-TW" dirty="0"/>
          </a:p>
        </p:txBody>
      </p:sp>
      <p:pic>
        <p:nvPicPr>
          <p:cNvPr id="4" name="圖片 3" descr="Power Meter的點表">
            <a:extLst>
              <a:ext uri="{FF2B5EF4-FFF2-40B4-BE49-F238E27FC236}">
                <a16:creationId xmlns:a16="http://schemas.microsoft.com/office/drawing/2014/main" id="{65CA9ED6-D7AE-E380-D590-5346C02700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4" t="3898" r="3694" b="4497"/>
          <a:stretch>
            <a:fillRect/>
          </a:stretch>
        </p:blipFill>
        <p:spPr>
          <a:xfrm>
            <a:off x="4119274" y="28706"/>
            <a:ext cx="4920182" cy="682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37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7B175-AA2F-E7D8-EDF3-77D5C4069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322566-CCD3-5317-E0AA-84EA3BF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019B4B-68EE-A38A-DE72-872E630A1F0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數位電表的通訊</a:t>
            </a:r>
            <a:endParaRPr lang="en-US" altLang="zh-TW" dirty="0"/>
          </a:p>
          <a:p>
            <a:pPr lvl="1"/>
            <a:r>
              <a:rPr lang="zh-TW" altLang="zh-TW" dirty="0"/>
              <a:t>Power Meter的浮點數表示方式</a:t>
            </a:r>
          </a:p>
          <a:p>
            <a:pPr lvl="1"/>
            <a:endParaRPr lang="zh-TW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FD46627-2BBB-827D-F17D-CFA2585F8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686" y="2575189"/>
            <a:ext cx="7018628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19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4EAE5-CFFB-81C6-2513-B5B49E6E1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0BCE1-2CB3-7104-F070-B039DF808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工業通訊協定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EC7059-E2E2-976B-234D-C275B6173A9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數位電表的通訊</a:t>
            </a:r>
            <a:endParaRPr lang="en-US" altLang="zh-TW" dirty="0"/>
          </a:p>
          <a:p>
            <a:pPr lvl="1"/>
            <a:r>
              <a:rPr lang="en-US" altLang="zh-TW" dirty="0"/>
              <a:t>Demo</a:t>
            </a:r>
            <a:r>
              <a:rPr lang="zh-TW" altLang="en-US" dirty="0"/>
              <a:t>示範實作說明</a:t>
            </a:r>
            <a:endParaRPr lang="en-US" altLang="zh-TW" dirty="0"/>
          </a:p>
          <a:p>
            <a:pPr lvl="1"/>
            <a:r>
              <a:rPr lang="en-US" altLang="zh-TW" dirty="0" err="1"/>
              <a:t>Python_Modbus.ipynb</a:t>
            </a:r>
            <a:endParaRPr lang="en-US" altLang="zh-TW" dirty="0"/>
          </a:p>
          <a:p>
            <a:pPr lvl="1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3722151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MQTT應用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3631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MQTT</a:t>
            </a:r>
            <a:r>
              <a:rPr lang="zh-TW" altLang="en-US" dirty="0"/>
              <a:t>應用</a:t>
            </a:r>
            <a:r>
              <a:rPr lang="en-US" altLang="zh-TW" dirty="0"/>
              <a:t>-</a:t>
            </a:r>
            <a:r>
              <a:rPr lang="en-US" altLang="zh-TW" dirty="0" err="1"/>
              <a:t>何謂MQTT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一種輕量化的物聯網協定</a:t>
            </a:r>
          </a:p>
        </p:txBody>
      </p:sp>
      <p:pic>
        <p:nvPicPr>
          <p:cNvPr id="10242" name="Picture 2" descr="mqt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04864"/>
            <a:ext cx="5795804" cy="442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022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MQTT</a:t>
            </a:r>
            <a:r>
              <a:rPr lang="zh-TW" altLang="en-US" dirty="0"/>
              <a:t>應用</a:t>
            </a:r>
            <a:r>
              <a:rPr lang="en-US" altLang="zh-TW" dirty="0"/>
              <a:t>-</a:t>
            </a:r>
            <a:r>
              <a:rPr lang="en-US" altLang="zh-TW" dirty="0" err="1"/>
              <a:t>MQTT工具介紹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err="1"/>
              <a:t>MQTT的測試工具</a:t>
            </a:r>
            <a:r>
              <a:rPr lang="en-US" altLang="zh-TW" dirty="0"/>
              <a:t>: </a:t>
            </a:r>
          </a:p>
          <a:p>
            <a:pPr lvl="1"/>
            <a:r>
              <a:rPr lang="en-US" altLang="zh-TW" dirty="0" err="1"/>
              <a:t>安裝：sudo</a:t>
            </a:r>
            <a:r>
              <a:rPr lang="zh-TW" altLang="en-US" dirty="0"/>
              <a:t> </a:t>
            </a:r>
            <a:r>
              <a:rPr lang="en-US" altLang="zh-TW" dirty="0"/>
              <a:t>apt</a:t>
            </a:r>
            <a:r>
              <a:rPr lang="zh-TW" altLang="en-US" dirty="0"/>
              <a:t> </a:t>
            </a:r>
            <a:r>
              <a:rPr lang="en-US" altLang="zh-TW" dirty="0"/>
              <a:t>install</a:t>
            </a:r>
            <a:r>
              <a:rPr lang="zh-TW" altLang="en-US" dirty="0"/>
              <a:t> </a:t>
            </a:r>
            <a:r>
              <a:rPr lang="en-US" altLang="zh-TW" dirty="0" err="1"/>
              <a:t>mosquitto</a:t>
            </a:r>
            <a:r>
              <a:rPr lang="en-US" altLang="zh-TW" dirty="0"/>
              <a:t>-clients</a:t>
            </a:r>
          </a:p>
          <a:p>
            <a:pPr lvl="1"/>
            <a:r>
              <a:rPr lang="zh-TW" altLang="en-US" dirty="0"/>
              <a:t>接收訊息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 err="1"/>
              <a:t>mosquitto_sub</a:t>
            </a:r>
            <a:r>
              <a:rPr lang="en-US" altLang="zh-TW" dirty="0"/>
              <a:t> –h broker.hivemq.com –t /</a:t>
            </a:r>
            <a:r>
              <a:rPr lang="en-US" altLang="zh-TW" dirty="0" err="1"/>
              <a:t>malo</a:t>
            </a:r>
            <a:r>
              <a:rPr lang="en-US" altLang="zh-TW" dirty="0"/>
              <a:t>/hello</a:t>
            </a:r>
          </a:p>
          <a:p>
            <a:pPr lvl="1"/>
            <a:r>
              <a:rPr lang="zh-TW" altLang="en-US" dirty="0"/>
              <a:t>傳送訊息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 err="1"/>
              <a:t>mosquitto_pub</a:t>
            </a:r>
            <a:r>
              <a:rPr lang="zh-TW" altLang="en-US" dirty="0"/>
              <a:t> </a:t>
            </a:r>
            <a:r>
              <a:rPr lang="en-US" altLang="zh-TW" dirty="0"/>
              <a:t>–h</a:t>
            </a:r>
            <a:r>
              <a:rPr lang="zh-TW" altLang="en-US" dirty="0"/>
              <a:t> </a:t>
            </a:r>
            <a:r>
              <a:rPr lang="en-US" altLang="zh-TW" dirty="0"/>
              <a:t>broker.hivemq.com</a:t>
            </a:r>
            <a:r>
              <a:rPr lang="zh-TW" altLang="en-US" dirty="0"/>
              <a:t> </a:t>
            </a:r>
            <a:r>
              <a:rPr lang="en-US" altLang="zh-TW" dirty="0"/>
              <a:t>–t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en-US" altLang="zh-TW" dirty="0" err="1"/>
              <a:t>malo</a:t>
            </a:r>
            <a:r>
              <a:rPr lang="en-US" altLang="zh-TW" dirty="0"/>
              <a:t>/hello</a:t>
            </a:r>
            <a:r>
              <a:rPr lang="zh-TW" altLang="en-US" dirty="0"/>
              <a:t> </a:t>
            </a:r>
            <a:r>
              <a:rPr lang="en-US" altLang="zh-TW" dirty="0"/>
              <a:t>–m</a:t>
            </a:r>
            <a:r>
              <a:rPr lang="zh-TW" altLang="en-US" dirty="0"/>
              <a:t> </a:t>
            </a:r>
            <a:r>
              <a:rPr lang="en-US" altLang="zh-TW" dirty="0"/>
              <a:t>“hello world”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3256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MQTT</a:t>
            </a:r>
            <a:r>
              <a:rPr lang="zh-TW" altLang="en-US" dirty="0"/>
              <a:t>應用</a:t>
            </a:r>
            <a:r>
              <a:rPr lang="en-US" altLang="zh-TW" dirty="0"/>
              <a:t>-</a:t>
            </a:r>
            <a:r>
              <a:rPr lang="en-US" altLang="zh-TW" dirty="0" err="1"/>
              <a:t>發佈訊息</a:t>
            </a:r>
            <a:r>
              <a:rPr lang="en-US" altLang="zh-TW" dirty="0"/>
              <a:t> </a:t>
            </a:r>
            <a:r>
              <a:rPr lang="en-US" altLang="zh-TW" dirty="0">
                <a:sym typeface="Wingdings" pitchFamily="2" charset="2"/>
              </a:rPr>
              <a:t> </a:t>
            </a:r>
            <a:r>
              <a:rPr lang="en-US" altLang="zh-TW" dirty="0" err="1"/>
              <a:t>控制燈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發佈</a:t>
            </a:r>
            <a:r>
              <a:rPr lang="en-US" altLang="zh-TW" dirty="0" err="1"/>
              <a:t>MQTT訊息</a:t>
            </a:r>
            <a:r>
              <a:rPr lang="zh-TW" altLang="en-US" dirty="0"/>
              <a:t> </a:t>
            </a:r>
            <a:r>
              <a:rPr lang="en-US" altLang="zh-TW" dirty="0">
                <a:sym typeface="Wingdings" pitchFamily="2" charset="2"/>
              </a:rPr>
              <a:t> </a:t>
            </a:r>
            <a:r>
              <a:rPr lang="en-US" altLang="zh-TW" dirty="0" err="1"/>
              <a:t>控制燈</a:t>
            </a:r>
            <a:r>
              <a:rPr lang="en-US" altLang="zh-TW" dirty="0"/>
              <a:t>: </a:t>
            </a:r>
          </a:p>
          <a:p>
            <a:pPr lvl="1"/>
            <a:r>
              <a:rPr lang="en-US" altLang="zh-TW" dirty="0"/>
              <a:t>Topic: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en-US" altLang="zh-TW" dirty="0" err="1"/>
              <a:t>malo</a:t>
            </a:r>
            <a:r>
              <a:rPr lang="en-US" altLang="zh-TW" dirty="0"/>
              <a:t>/light1</a:t>
            </a:r>
          </a:p>
          <a:p>
            <a:pPr lvl="1"/>
            <a:r>
              <a:rPr lang="zh-TW" altLang="en-US" dirty="0"/>
              <a:t>傳送訊息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 err="1"/>
              <a:t>mosquitto_pub</a:t>
            </a:r>
            <a:r>
              <a:rPr lang="zh-TW" altLang="en-US" dirty="0"/>
              <a:t> </a:t>
            </a:r>
            <a:r>
              <a:rPr lang="en-US" altLang="zh-TW" dirty="0"/>
              <a:t>–h</a:t>
            </a:r>
            <a:r>
              <a:rPr lang="zh-TW" altLang="en-US" dirty="0"/>
              <a:t> </a:t>
            </a:r>
            <a:r>
              <a:rPr lang="en-US" altLang="zh-TW" dirty="0"/>
              <a:t>broker.hivemq.com</a:t>
            </a:r>
            <a:r>
              <a:rPr lang="zh-TW" altLang="en-US" dirty="0"/>
              <a:t> </a:t>
            </a:r>
            <a:r>
              <a:rPr lang="en-US" altLang="zh-TW" dirty="0"/>
              <a:t>–t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en-US" altLang="zh-TW" dirty="0" err="1"/>
              <a:t>malo</a:t>
            </a:r>
            <a:r>
              <a:rPr lang="en-US" altLang="zh-TW" dirty="0"/>
              <a:t>/light1</a:t>
            </a:r>
            <a:r>
              <a:rPr lang="zh-TW" altLang="en-US" dirty="0"/>
              <a:t> </a:t>
            </a:r>
            <a:r>
              <a:rPr lang="en-US" altLang="zh-TW" dirty="0"/>
              <a:t>–m</a:t>
            </a:r>
            <a:r>
              <a:rPr lang="zh-TW" altLang="en-US" dirty="0"/>
              <a:t> </a:t>
            </a:r>
            <a:r>
              <a:rPr lang="en-US" altLang="zh-TW" dirty="0"/>
              <a:t>“1”</a:t>
            </a:r>
          </a:p>
          <a:p>
            <a:pPr lvl="1"/>
            <a:r>
              <a:rPr lang="zh-TW" altLang="en-US" dirty="0"/>
              <a:t>接收端的設備：</a:t>
            </a:r>
            <a:r>
              <a:rPr lang="en-US" altLang="zh-TW" dirty="0"/>
              <a:t>ESP-8266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4638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MQTT</a:t>
            </a:r>
            <a:r>
              <a:rPr lang="zh-TW" altLang="en-US" dirty="0"/>
              <a:t>應用</a:t>
            </a:r>
            <a:r>
              <a:rPr lang="en-US" altLang="zh-TW" dirty="0"/>
              <a:t>-</a:t>
            </a:r>
            <a:r>
              <a:rPr lang="en-US" altLang="zh-TW" dirty="0" err="1"/>
              <a:t>訂閱訊息</a:t>
            </a:r>
            <a:r>
              <a:rPr lang="zh-TW" altLang="en-US" dirty="0"/>
              <a:t> </a:t>
            </a:r>
            <a:r>
              <a:rPr lang="en-US" altLang="zh-TW" dirty="0">
                <a:sym typeface="Wingdings" pitchFamily="2" charset="2"/>
              </a:rPr>
              <a:t></a:t>
            </a:r>
            <a:r>
              <a:rPr lang="zh-TW" altLang="en-US" dirty="0">
                <a:sym typeface="Wingdings" pitchFamily="2" charset="2"/>
              </a:rPr>
              <a:t> 溫度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訂閱</a:t>
            </a:r>
            <a:r>
              <a:rPr lang="en-US" altLang="zh-TW" dirty="0" err="1"/>
              <a:t>MQTT訊息</a:t>
            </a:r>
            <a:r>
              <a:rPr lang="zh-TW" altLang="en-US" dirty="0"/>
              <a:t> </a:t>
            </a:r>
            <a:r>
              <a:rPr lang="en-US" altLang="zh-TW" dirty="0">
                <a:sym typeface="Wingdings" pitchFamily="2" charset="2"/>
              </a:rPr>
              <a:t></a:t>
            </a:r>
            <a:r>
              <a:rPr lang="zh-TW" altLang="en-US" dirty="0">
                <a:sym typeface="Wingdings" pitchFamily="2" charset="2"/>
              </a:rPr>
              <a:t> 接收溫度資訊</a:t>
            </a:r>
            <a:r>
              <a:rPr lang="en-US" altLang="zh-TW" dirty="0"/>
              <a:t>: </a:t>
            </a:r>
          </a:p>
          <a:p>
            <a:pPr lvl="1"/>
            <a:r>
              <a:rPr lang="en-US" altLang="zh-TW" dirty="0"/>
              <a:t>Topic: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en-US" altLang="zh-TW" dirty="0" err="1"/>
              <a:t>malo</a:t>
            </a:r>
            <a:r>
              <a:rPr lang="en-US" altLang="zh-TW" dirty="0"/>
              <a:t>/t</a:t>
            </a:r>
          </a:p>
          <a:p>
            <a:pPr lvl="1"/>
            <a:r>
              <a:rPr lang="zh-TW" altLang="en-US" dirty="0"/>
              <a:t>訂閱訊息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 err="1"/>
              <a:t>mosquitto_sub</a:t>
            </a:r>
            <a:r>
              <a:rPr lang="zh-TW" altLang="en-US" dirty="0"/>
              <a:t> </a:t>
            </a:r>
            <a:r>
              <a:rPr lang="en-US" altLang="zh-TW" dirty="0"/>
              <a:t>–h</a:t>
            </a:r>
            <a:r>
              <a:rPr lang="zh-TW" altLang="en-US" dirty="0"/>
              <a:t> </a:t>
            </a:r>
            <a:r>
              <a:rPr lang="en-US" altLang="zh-TW" dirty="0"/>
              <a:t>broker.hivemq.com</a:t>
            </a:r>
            <a:r>
              <a:rPr lang="zh-TW" altLang="en-US" dirty="0"/>
              <a:t> </a:t>
            </a:r>
            <a:r>
              <a:rPr lang="en-US" altLang="zh-TW" dirty="0"/>
              <a:t>–t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en-US" altLang="zh-TW" dirty="0" err="1"/>
              <a:t>malo</a:t>
            </a:r>
            <a:r>
              <a:rPr lang="en-US" altLang="zh-TW" dirty="0"/>
              <a:t>/farm/temp</a:t>
            </a:r>
          </a:p>
          <a:p>
            <a:pPr lvl="1"/>
            <a:r>
              <a:rPr lang="zh-TW" altLang="en-US" dirty="0"/>
              <a:t>發送端的設備：</a:t>
            </a:r>
            <a:r>
              <a:rPr lang="en-US" altLang="zh-TW" dirty="0" err="1"/>
              <a:t>畜牧場的溫度sensor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90659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數位電錶介紹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以</a:t>
            </a:r>
            <a:r>
              <a:rPr lang="en-US" altLang="zh-TW" dirty="0" err="1"/>
              <a:t>MQTT來收集電錶資訊</a:t>
            </a:r>
            <a:endParaRPr lang="en-US" altLang="zh-TW" dirty="0"/>
          </a:p>
          <a:p>
            <a:pPr lvl="1"/>
            <a:r>
              <a:rPr lang="en-US" altLang="zh-TW" dirty="0"/>
              <a:t>/</a:t>
            </a:r>
            <a:r>
              <a:rPr lang="en-US" altLang="zh-TW" dirty="0" err="1"/>
              <a:t>malo</a:t>
            </a:r>
            <a:r>
              <a:rPr lang="en-US" altLang="zh-TW" dirty="0"/>
              <a:t>/farm/v1                    /</a:t>
            </a:r>
            <a:r>
              <a:rPr lang="en-US" altLang="zh-TW" dirty="0" err="1"/>
              <a:t>malo</a:t>
            </a:r>
            <a:r>
              <a:rPr lang="en-US" altLang="zh-TW" dirty="0"/>
              <a:t>/farm/a1</a:t>
            </a:r>
          </a:p>
          <a:p>
            <a:pPr lvl="1"/>
            <a:r>
              <a:rPr lang="en-US" altLang="zh-TW" dirty="0"/>
              <a:t>/</a:t>
            </a:r>
            <a:r>
              <a:rPr lang="en-US" altLang="zh-TW" dirty="0" err="1"/>
              <a:t>malo</a:t>
            </a:r>
            <a:r>
              <a:rPr lang="en-US" altLang="zh-TW" dirty="0"/>
              <a:t>/farm/v2                    /</a:t>
            </a:r>
            <a:r>
              <a:rPr lang="en-US" altLang="zh-TW" dirty="0" err="1"/>
              <a:t>malo</a:t>
            </a:r>
            <a:r>
              <a:rPr lang="en-US" altLang="zh-TW" dirty="0"/>
              <a:t>/farm/a2</a:t>
            </a:r>
          </a:p>
          <a:p>
            <a:pPr lvl="1"/>
            <a:r>
              <a:rPr lang="en-US" altLang="zh-TW" dirty="0"/>
              <a:t>/</a:t>
            </a:r>
            <a:r>
              <a:rPr lang="en-US" altLang="zh-TW" dirty="0" err="1"/>
              <a:t>malo</a:t>
            </a:r>
            <a:r>
              <a:rPr lang="en-US" altLang="zh-TW" dirty="0"/>
              <a:t>/farm/v3                    /</a:t>
            </a:r>
            <a:r>
              <a:rPr lang="en-US" altLang="zh-TW" dirty="0" err="1"/>
              <a:t>malo</a:t>
            </a:r>
            <a:r>
              <a:rPr lang="en-US" altLang="zh-TW" dirty="0"/>
              <a:t>/farm/a3</a:t>
            </a:r>
          </a:p>
          <a:p>
            <a:pPr lvl="1"/>
            <a:r>
              <a:rPr lang="en-US" altLang="zh-TW" dirty="0"/>
              <a:t>/</a:t>
            </a:r>
            <a:r>
              <a:rPr lang="en-US" altLang="zh-TW" dirty="0" err="1"/>
              <a:t>malo</a:t>
            </a:r>
            <a:r>
              <a:rPr lang="en-US" altLang="zh-TW" dirty="0"/>
              <a:t>/farm/</a:t>
            </a:r>
            <a:r>
              <a:rPr lang="en-US" altLang="zh-TW" dirty="0" err="1"/>
              <a:t>total_e</a:t>
            </a:r>
            <a:endParaRPr lang="en-US" altLang="zh-TW" dirty="0"/>
          </a:p>
          <a:p>
            <a:pPr lvl="1"/>
            <a:endParaRPr lang="zh-TW" altLang="en-US" dirty="0"/>
          </a:p>
          <a:p>
            <a:pPr lvl="1"/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756393"/>
            <a:ext cx="1227709" cy="1403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942" y="4941168"/>
            <a:ext cx="1061874" cy="1034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線單箭頭接點 5"/>
          <p:cNvCxnSpPr>
            <a:endCxn id="5" idx="1"/>
          </p:cNvCxnSpPr>
          <p:nvPr/>
        </p:nvCxnSpPr>
        <p:spPr>
          <a:xfrm>
            <a:off x="1248526" y="5458391"/>
            <a:ext cx="605416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79512" y="4756393"/>
            <a:ext cx="1152128" cy="14039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電力總盤</a:t>
            </a:r>
          </a:p>
        </p:txBody>
      </p:sp>
      <p:cxnSp>
        <p:nvCxnSpPr>
          <p:cNvPr id="9" name="直線單箭頭接點 8"/>
          <p:cNvCxnSpPr/>
          <p:nvPr/>
        </p:nvCxnSpPr>
        <p:spPr>
          <a:xfrm>
            <a:off x="2958472" y="5445224"/>
            <a:ext cx="893448" cy="1316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2061713" y="614208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電錶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3707904" y="6165304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MQTT閘道器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5046704" y="5445224"/>
            <a:ext cx="893448" cy="1316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7114786" y="5453583"/>
            <a:ext cx="893448" cy="1316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028384" y="4725144"/>
            <a:ext cx="1008112" cy="14039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訂閱者</a:t>
            </a:r>
            <a:endParaRPr lang="zh-TW" altLang="en-US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954" y="4897560"/>
            <a:ext cx="1140635" cy="1059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文字方塊 17"/>
          <p:cNvSpPr txBox="1"/>
          <p:nvPr/>
        </p:nvSpPr>
        <p:spPr>
          <a:xfrm>
            <a:off x="6173573" y="614208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Broker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9992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NodeRED應用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8022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NodeRED應用-何謂NodeRED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參考網站：</a:t>
            </a:r>
            <a:r>
              <a:rPr lang="en-US" altLang="zh-TW" dirty="0">
                <a:hlinkClick r:id="rId2"/>
              </a:rPr>
              <a:t>https://nodered.org/</a:t>
            </a:r>
            <a:endParaRPr lang="en-US" altLang="zh-TW" dirty="0"/>
          </a:p>
          <a:p>
            <a:r>
              <a:rPr lang="zh-TW" altLang="en-US" dirty="0"/>
              <a:t>以網頁型式，提供流程圖的圖像化的程式規畫</a:t>
            </a:r>
            <a:endParaRPr lang="en-US" altLang="zh-TW" dirty="0"/>
          </a:p>
          <a:p>
            <a:r>
              <a:rPr lang="zh-TW" altLang="en-US" dirty="0"/>
              <a:t>組合各種功能的</a:t>
            </a:r>
            <a:r>
              <a:rPr lang="en-US" altLang="zh-TW" dirty="0"/>
              <a:t>Node(</a:t>
            </a:r>
            <a:r>
              <a:rPr lang="en-US" altLang="zh-TW" dirty="0" err="1"/>
              <a:t>節點</a:t>
            </a:r>
            <a:r>
              <a:rPr lang="en-US" altLang="zh-TW" dirty="0"/>
              <a:t>)，</a:t>
            </a:r>
            <a:r>
              <a:rPr lang="en-US" altLang="zh-TW" dirty="0" err="1"/>
              <a:t>讓使用者使用很少的程式碼，就可以進行IoT整合</a:t>
            </a:r>
            <a:endParaRPr lang="en-US" altLang="zh-TW" dirty="0"/>
          </a:p>
          <a:p>
            <a:r>
              <a:rPr lang="zh-TW" altLang="en-US" dirty="0"/>
              <a:t>底層以</a:t>
            </a:r>
            <a:r>
              <a:rPr lang="en-US" altLang="zh-TW" dirty="0" err="1"/>
              <a:t>Node.js開發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1710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NodeRED應用-何謂NodeRED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安裝程式</a:t>
            </a:r>
            <a:endParaRPr lang="en-US" altLang="zh-TW" dirty="0"/>
          </a:p>
          <a:p>
            <a:pPr lvl="1"/>
            <a:r>
              <a:rPr lang="en-US" altLang="zh-TW" dirty="0"/>
              <a:t>bash &lt;(curl -</a:t>
            </a:r>
            <a:r>
              <a:rPr lang="en-US" altLang="zh-TW" dirty="0" err="1"/>
              <a:t>sL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https://raw.githubusercontent.com/node-red/linux-installers/master/deb/update-nodejs-and-nodered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031997"/>
            <a:ext cx="6193532" cy="3826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7763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NodeRED應用-何謂NodeRED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安裝程式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204864"/>
            <a:ext cx="7765707" cy="450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1016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NodeRED應用-何謂NodeRED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安裝程式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708920"/>
            <a:ext cx="8089811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520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NodeRED應用-何謂NodeRED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安裝程式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060848"/>
            <a:ext cx="6984776" cy="4638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1891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NodeRED應用-何謂NodeRED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執行程式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068960"/>
            <a:ext cx="4703281" cy="19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1338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NodeRED應用-何謂NodeRED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執行程式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132855"/>
            <a:ext cx="6768752" cy="4569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4852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NodeRED應用-何謂NodeRED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在電腦的</a:t>
            </a:r>
            <a:r>
              <a:rPr lang="en-US" altLang="zh-TW" dirty="0" err="1"/>
              <a:t>chrome上輸入樹莓派的ip再加上NodeRED的</a:t>
            </a:r>
            <a:r>
              <a:rPr lang="en-US" altLang="zh-TW" dirty="0"/>
              <a:t> 1880 port</a:t>
            </a:r>
            <a:endParaRPr lang="zh-TW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556348"/>
            <a:ext cx="8280920" cy="4329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4450011" y="3244334"/>
            <a:ext cx="243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015528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NodeRED應用-將電錶資訊視覺化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2" y="1844824"/>
            <a:ext cx="3076575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89420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庸">
  <a:themeElements>
    <a:clrScheme name="中庸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庸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庸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2968</TotalTime>
  <Words>799</Words>
  <Application>Microsoft Office PowerPoint</Application>
  <PresentationFormat>如螢幕大小 (4:3)</PresentationFormat>
  <Paragraphs>133</Paragraphs>
  <Slides>35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0" baseType="lpstr">
      <vt:lpstr>Aptos</vt:lpstr>
      <vt:lpstr>Tw Cen MT</vt:lpstr>
      <vt:lpstr>Wingdings</vt:lpstr>
      <vt:lpstr>Wingdings 2</vt:lpstr>
      <vt:lpstr>中庸</vt:lpstr>
      <vt:lpstr>工業通訊協定實現工廠可視化管理     -modbus</vt:lpstr>
      <vt:lpstr>講者介紹</vt:lpstr>
      <vt:lpstr>工業通訊協定</vt:lpstr>
      <vt:lpstr>工業通訊協定</vt:lpstr>
      <vt:lpstr>工業通訊協定</vt:lpstr>
      <vt:lpstr>工業通訊協定</vt:lpstr>
      <vt:lpstr>工業通訊協定</vt:lpstr>
      <vt:lpstr>工業通訊協定</vt:lpstr>
      <vt:lpstr>PowerPoint 簡報</vt:lpstr>
      <vt:lpstr>PowerPoint 簡報</vt:lpstr>
      <vt:lpstr>工業通訊協定</vt:lpstr>
      <vt:lpstr>工業通訊協定</vt:lpstr>
      <vt:lpstr>工業通訊協定</vt:lpstr>
      <vt:lpstr>工業通訊協定</vt:lpstr>
      <vt:lpstr>工業通訊協定</vt:lpstr>
      <vt:lpstr>工業通訊協定</vt:lpstr>
      <vt:lpstr>工業通訊協定</vt:lpstr>
      <vt:lpstr>工業通訊協定</vt:lpstr>
      <vt:lpstr>工業通訊協定</vt:lpstr>
      <vt:lpstr>MQTT應用</vt:lpstr>
      <vt:lpstr>MQTT應用-何謂MQTT</vt:lpstr>
      <vt:lpstr>MQTT應用-MQTT工具介紹</vt:lpstr>
      <vt:lpstr>MQTT應用-發佈訊息  控制燈</vt:lpstr>
      <vt:lpstr>MQTT應用-訂閱訊息  溫度</vt:lpstr>
      <vt:lpstr>數位電錶介紹</vt:lpstr>
      <vt:lpstr>NodeRED應用</vt:lpstr>
      <vt:lpstr>NodeRED應用-何謂NodeRED</vt:lpstr>
      <vt:lpstr>NodeRED應用-何謂NodeRED</vt:lpstr>
      <vt:lpstr>NodeRED應用-何謂NodeRED</vt:lpstr>
      <vt:lpstr>NodeRED應用-何謂NodeRED</vt:lpstr>
      <vt:lpstr>NodeRED應用-何謂NodeRED</vt:lpstr>
      <vt:lpstr>NodeRED應用-何謂NodeRED</vt:lpstr>
      <vt:lpstr>NodeRED應用-何謂NodeRED</vt:lpstr>
      <vt:lpstr>NodeRED應用-何謂NodeRED</vt:lpstr>
      <vt:lpstr>NodeRED應用-將電錶資訊視覺化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物聯網MQTT應用     -以樹莓派為例</dc:title>
  <dc:creator>malo</dc:creator>
  <cp:lastModifiedBy>楊熲煜</cp:lastModifiedBy>
  <cp:revision>88</cp:revision>
  <dcterms:created xsi:type="dcterms:W3CDTF">2023-10-20T23:29:27Z</dcterms:created>
  <dcterms:modified xsi:type="dcterms:W3CDTF">2026-06-17T03:03:32Z</dcterms:modified>
</cp:coreProperties>
</file>